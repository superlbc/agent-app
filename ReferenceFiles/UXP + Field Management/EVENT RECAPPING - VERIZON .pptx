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  <p:embeddedFont>
      <p:font typeface="Verizon NHG D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B3EC2A-ABD1-409F-BCD1-FB8F3DEC8EED}">
  <a:tblStyle styleId="{34B3EC2A-ABD1-409F-BCD1-FB8F3DEC8EE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customXml" Target="../customXml/item1.xml"/><Relationship Id="rId21" Type="http://schemas.openxmlformats.org/officeDocument/2006/relationships/slide" Target="slides/slide15.xml"/><Relationship Id="rId34" Type="http://schemas.openxmlformats.org/officeDocument/2006/relationships/font" Target="fonts/Lato-boldItalic.fntdata"/><Relationship Id="rId7" Type="http://schemas.openxmlformats.org/officeDocument/2006/relationships/slide" Target="slides/slide1.xml"/><Relationship Id="rId20" Type="http://schemas.openxmlformats.org/officeDocument/2006/relationships/slide" Target="slides/slide14.xml"/><Relationship Id="rId2" Type="http://schemas.openxmlformats.org/officeDocument/2006/relationships/viewProps" Target="viewProps.xml"/><Relationship Id="rId29" Type="http://schemas.openxmlformats.org/officeDocument/2006/relationships/font" Target="fonts/Montserrat-italic.fntdata"/><Relationship Id="rId16" Type="http://schemas.openxmlformats.org/officeDocument/2006/relationships/slide" Target="slides/slide10.xml"/><Relationship Id="rId41" Type="http://schemas.openxmlformats.org/officeDocument/2006/relationships/customXml" Target="../customXml/item3.xml"/><Relationship Id="rId24" Type="http://schemas.openxmlformats.org/officeDocument/2006/relationships/font" Target="fonts/Roboto-bold.fntdata"/><Relationship Id="rId1" Type="http://schemas.openxmlformats.org/officeDocument/2006/relationships/theme" Target="theme/theme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5.xml"/><Relationship Id="rId32" Type="http://schemas.openxmlformats.org/officeDocument/2006/relationships/font" Target="fonts/Lato-bold.fntdata"/><Relationship Id="rId37" Type="http://schemas.openxmlformats.org/officeDocument/2006/relationships/font" Target="fonts/VerizonNHGDS-italic.fntdata"/><Relationship Id="rId40" Type="http://schemas.openxmlformats.org/officeDocument/2006/relationships/customXml" Target="../customXml/item2.xml"/><Relationship Id="rId23" Type="http://schemas.openxmlformats.org/officeDocument/2006/relationships/font" Target="fonts/Roboto-regular.fntdata"/><Relationship Id="rId28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36" Type="http://schemas.openxmlformats.org/officeDocument/2006/relationships/font" Target="fonts/VerizonNHGDS-bold.fntdata"/><Relationship Id="rId31" Type="http://schemas.openxmlformats.org/officeDocument/2006/relationships/font" Target="fonts/Lato-regular.fntdata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22" Type="http://schemas.openxmlformats.org/officeDocument/2006/relationships/slide" Target="slides/slide16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7" Type="http://schemas.openxmlformats.org/officeDocument/2006/relationships/font" Target="fonts/Montserrat-regular.fntdata"/><Relationship Id="rId30" Type="http://schemas.openxmlformats.org/officeDocument/2006/relationships/font" Target="fonts/Montserrat-boldItalic.fntdata"/><Relationship Id="rId35" Type="http://schemas.openxmlformats.org/officeDocument/2006/relationships/font" Target="fonts/VerizonNHGDS-regular.fntdata"/><Relationship Id="rId14" Type="http://schemas.openxmlformats.org/officeDocument/2006/relationships/slide" Target="slides/slide8.xml"/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25" Type="http://schemas.openxmlformats.org/officeDocument/2006/relationships/font" Target="fonts/Roboto-italic.fntdata"/><Relationship Id="rId33" Type="http://schemas.openxmlformats.org/officeDocument/2006/relationships/font" Target="fonts/Lato-italic.fntdata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8" Type="http://schemas.openxmlformats.org/officeDocument/2006/relationships/font" Target="fonts/VerizonNHGD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823f6d6425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823f6d642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87b3ccc471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87b3ccc471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87b3ccc471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87b3ccc471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87b3ccc471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87b3ccc471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7b3ccc471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87b3ccc471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823f6d6425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823f6d642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823f6d6425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823f6d6425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823f6d6425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823f6d6425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87b3ccc471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87b3ccc471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87b3ccc47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287b3ccc471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87b3ccc47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287b3ccc471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87b3ccc471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287b3ccc471_0_1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87b3ccc471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87b3ccc471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4b0c7323dc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4b0c7323dc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87b3ccc471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287b3ccc471_0_2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457200" y="594360"/>
            <a:ext cx="7086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izon NHG DS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1" type="body"/>
          </p:nvPr>
        </p:nvSpPr>
        <p:spPr>
          <a:xfrm>
            <a:off x="457200" y="1459580"/>
            <a:ext cx="7086600" cy="29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izon NHG DS"/>
              <a:buAutoNum type="arabicPeriod"/>
              <a:defRPr sz="1600"/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0480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133" name="Google Shape;133;p13"/>
          <p:cNvSpPr txBox="1"/>
          <p:nvPr>
            <p:ph idx="12" type="sldNum"/>
          </p:nvPr>
        </p:nvSpPr>
        <p:spPr>
          <a:xfrm>
            <a:off x="8458200" y="470001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b="1" sz="7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1pPr>
            <a:lvl2pPr indent="0" lvl="1" marL="0" rtl="0" algn="r">
              <a:spcBef>
                <a:spcPts val="0"/>
              </a:spcBef>
              <a:buNone/>
              <a:defRPr b="1" sz="7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2pPr>
            <a:lvl3pPr indent="0" lvl="2" marL="0" rtl="0" algn="r">
              <a:spcBef>
                <a:spcPts val="0"/>
              </a:spcBef>
              <a:buNone/>
              <a:defRPr b="1" sz="7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3pPr>
            <a:lvl4pPr indent="0" lvl="3" marL="0" rtl="0" algn="r">
              <a:spcBef>
                <a:spcPts val="0"/>
              </a:spcBef>
              <a:buNone/>
              <a:defRPr b="1" sz="7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4pPr>
            <a:lvl5pPr indent="0" lvl="4" marL="0" rtl="0" algn="r">
              <a:spcBef>
                <a:spcPts val="0"/>
              </a:spcBef>
              <a:buNone/>
              <a:defRPr b="1" sz="7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5pPr>
            <a:lvl6pPr indent="0" lvl="5" marL="0" rtl="0" algn="r">
              <a:spcBef>
                <a:spcPts val="0"/>
              </a:spcBef>
              <a:buNone/>
              <a:defRPr b="1" sz="7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6pPr>
            <a:lvl7pPr indent="0" lvl="6" marL="0" rtl="0" algn="r">
              <a:spcBef>
                <a:spcPts val="0"/>
              </a:spcBef>
              <a:buNone/>
              <a:defRPr b="1" sz="7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7pPr>
            <a:lvl8pPr indent="0" lvl="7" marL="0" rtl="0" algn="r">
              <a:spcBef>
                <a:spcPts val="0"/>
              </a:spcBef>
              <a:buNone/>
              <a:defRPr b="1" sz="7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8pPr>
            <a:lvl9pPr indent="0" lvl="8" marL="0" rtl="0" algn="r">
              <a:spcBef>
                <a:spcPts val="0"/>
              </a:spcBef>
              <a:buNone/>
              <a:defRPr b="1" sz="700">
                <a:solidFill>
                  <a:schemeClr val="dk1"/>
                </a:solidFill>
                <a:latin typeface="Verizon NHG DS"/>
                <a:ea typeface="Verizon NHG DS"/>
                <a:cs typeface="Verizon NHG DS"/>
                <a:sym typeface="Verizon NHG D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4" name="Google Shape;134;p13"/>
          <p:cNvCxnSpPr/>
          <p:nvPr/>
        </p:nvCxnSpPr>
        <p:spPr>
          <a:xfrm>
            <a:off x="457200" y="457200"/>
            <a:ext cx="8229600" cy="0"/>
          </a:xfrm>
          <a:prstGeom prst="straightConnector1">
            <a:avLst/>
          </a:prstGeom>
          <a:noFill/>
          <a:ln cap="flat" cmpd="sng" w="476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4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38" name="Google Shape;138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77500" lnSpcReduction="20000"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7.jpg"/><Relationship Id="rId6" Type="http://schemas.openxmlformats.org/officeDocument/2006/relationships/image" Target="../media/image8.png"/><Relationship Id="rId7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Relationship Id="rId4" Type="http://schemas.openxmlformats.org/officeDocument/2006/relationships/image" Target="../media/image14.jp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Relationship Id="rId4" Type="http://schemas.openxmlformats.org/officeDocument/2006/relationships/image" Target="../media/image17.jpg"/><Relationship Id="rId9" Type="http://schemas.openxmlformats.org/officeDocument/2006/relationships/image" Target="../media/image19.jpg"/><Relationship Id="rId5" Type="http://schemas.openxmlformats.org/officeDocument/2006/relationships/image" Target="../media/image10.jp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google.com/spreadsheets/d/1oPkLHKglogn1Lr-fi1YbH4UdlV1x-laNtYBq8XuRf98/edit?usp=sharing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spreadsheets/d/154POLwHjt7ftjQtWAPsQ36mbpk-NuPO1u8NJoNLwkK8/edit#gid=17096589" TargetMode="External"/><Relationship Id="rId4" Type="http://schemas.openxmlformats.org/officeDocument/2006/relationships/hyperlink" Target="https://docs.google.com/spreadsheets/d/1oPkLHKglogn1Lr-fi1YbH4UdlV1x-laNtYBq8XuRf98/edit?usp=sharing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brandscopic.zendesk.com/hc/en-us" TargetMode="External"/><Relationship Id="rId4" Type="http://schemas.openxmlformats.org/officeDocument/2006/relationships/hyperlink" Target="https://brandscopic.zendesk.com/hc/en-us/articles/115002821508" TargetMode="External"/><Relationship Id="rId5" Type="http://schemas.openxmlformats.org/officeDocument/2006/relationships/hyperlink" Target="https://brandscopic.zendesk.com/hc/en-us/articles/115002834928" TargetMode="External"/><Relationship Id="rId6" Type="http://schemas.openxmlformats.org/officeDocument/2006/relationships/hyperlink" Target="https://www.youtube.com/channel/UChcfVIGq0zKf1E49HdW1Zs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 RECAPPING + UET Overview </a:t>
            </a:r>
            <a:endParaRPr/>
          </a:p>
        </p:txBody>
      </p:sp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311700" y="3226125"/>
            <a:ext cx="41556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 2023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Momentum Data collection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How Field Marketing fits into our UET vision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18181"/>
              <a:buChar char="-"/>
            </a:pPr>
            <a:r>
              <a:rPr lang="en" sz="1100"/>
              <a:t>Field Marketing Platform Comparisons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Brandscopic</a:t>
            </a:r>
            <a:endParaRPr/>
          </a:p>
          <a:p>
            <a:pPr indent="-293211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What it is, who will use it 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Event Creation 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Brandscopic + Smartsheets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Recapping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BA Recaps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Timing </a:t>
            </a:r>
            <a:endParaRPr/>
          </a:p>
          <a:p>
            <a:pPr indent="-30495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300"/>
              <a:t>Program roll out </a:t>
            </a:r>
            <a:endParaRPr sz="1300"/>
          </a:p>
          <a:p>
            <a:pPr indent="-293211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Small number of events to roll out, starting once the SSO is in place 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October 2023; events entered 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Schedule (during launch, feedback link, launch)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80750" y="11560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Unified Experience Tracker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3056" lvl="0" marL="6731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72916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Momentum gathers meaningful post-event metrics by unifying data from different sources. ​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​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23056" lvl="0" marL="6731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72916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Information is either </a:t>
            </a:r>
            <a:r>
              <a:rPr b="1" lang="en" sz="2400">
                <a:latin typeface="Arial"/>
                <a:ea typeface="Arial"/>
                <a:cs typeface="Arial"/>
                <a:sym typeface="Arial"/>
              </a:rPr>
              <a:t>not available 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lang="en" sz="2400">
                <a:latin typeface="Arial"/>
                <a:ea typeface="Arial"/>
                <a:cs typeface="Arial"/>
                <a:sym typeface="Arial"/>
              </a:rPr>
              <a:t>not shared in a timely manner.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​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23056" lvl="0" marL="6731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72916"/>
              <a:buFont typeface="Arial"/>
              <a:buChar char="●"/>
            </a:pPr>
            <a:r>
              <a:rPr b="1" lang="en" sz="2400">
                <a:latin typeface="Arial"/>
                <a:ea typeface="Arial"/>
                <a:cs typeface="Arial"/>
                <a:sym typeface="Arial"/>
              </a:rPr>
              <a:t>This limits Momentums spend and agility when generating insights.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​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275" y="543077"/>
            <a:ext cx="7981449" cy="416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1280750" y="11560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Field Marketing - Comparisons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type="title"/>
          </p:nvPr>
        </p:nvSpPr>
        <p:spPr>
          <a:xfrm>
            <a:off x="457200" y="594360"/>
            <a:ext cx="7086600" cy="6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Recapping Platform Features</a:t>
            </a:r>
            <a:endParaRPr sz="2000"/>
          </a:p>
        </p:txBody>
      </p:sp>
      <p:sp>
        <p:nvSpPr>
          <p:cNvPr id="180" name="Google Shape;180;p21"/>
          <p:cNvSpPr txBox="1"/>
          <p:nvPr/>
        </p:nvSpPr>
        <p:spPr>
          <a:xfrm>
            <a:off x="602200" y="1066600"/>
            <a:ext cx="605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-"/>
            </a:pPr>
            <a:r>
              <a:rPr lang="en" sz="1200">
                <a:solidFill>
                  <a:schemeClr val="lt1"/>
                </a:solidFill>
              </a:rPr>
              <a:t>Out of the</a:t>
            </a:r>
            <a:r>
              <a:rPr lang="en" sz="1200">
                <a:solidFill>
                  <a:schemeClr val="accent6"/>
                </a:solidFill>
              </a:rPr>
              <a:t> </a:t>
            </a:r>
            <a:r>
              <a:rPr lang="en" sz="1200">
                <a:solidFill>
                  <a:schemeClr val="lt1"/>
                </a:solidFill>
              </a:rPr>
              <a:t>14</a:t>
            </a:r>
            <a:r>
              <a:rPr lang="en" sz="1200">
                <a:solidFill>
                  <a:schemeClr val="lt1"/>
                </a:solidFill>
              </a:rPr>
              <a:t> platforms compared– these are the top 3 that meet the requirements of both Verizon and overall Momentum needs. </a:t>
            </a:r>
            <a:endParaRPr sz="1200">
              <a:solidFill>
                <a:schemeClr val="lt1"/>
              </a:solidFill>
            </a:endParaRPr>
          </a:p>
        </p:txBody>
      </p:sp>
      <p:graphicFrame>
        <p:nvGraphicFramePr>
          <p:cNvPr id="181" name="Google Shape;181;p21"/>
          <p:cNvGraphicFramePr/>
          <p:nvPr/>
        </p:nvGraphicFramePr>
        <p:xfrm>
          <a:off x="1852700" y="175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{34B3EC2A-ABD1-409F-BCD1-FB8F3DEC8EED}</a:tableStyleId>
              </a:tblPr>
              <a:tblGrid>
                <a:gridCol w="1781175"/>
                <a:gridCol w="1018975"/>
                <a:gridCol w="971750"/>
                <a:gridCol w="11301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Features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Recapping Platform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6FA8DC"/>
                          </a:solidFill>
                        </a:rPr>
                        <a:t>Brandscopic</a:t>
                      </a:r>
                      <a:endParaRPr b="1" sz="1200">
                        <a:solidFill>
                          <a:srgbClr val="6FA8DC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6FA8DC"/>
                          </a:solidFill>
                        </a:rPr>
                        <a:t>Pinata</a:t>
                      </a:r>
                      <a:endParaRPr b="1" sz="1200">
                        <a:solidFill>
                          <a:srgbClr val="6FA8DC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6FA8DC"/>
                          </a:solidFill>
                        </a:rPr>
                        <a:t>Network Ninja</a:t>
                      </a:r>
                      <a:endParaRPr b="1" sz="1200">
                        <a:solidFill>
                          <a:srgbClr val="6FA8DC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Dashboard View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1"/>
                          </a:solidFill>
                        </a:rPr>
                        <a:t>😊</a:t>
                      </a:r>
                      <a:endParaRPr sz="1000">
                        <a:solidFill>
                          <a:schemeClr val="accen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❌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😊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Calendar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2"/>
                          </a:solidFill>
                        </a:rPr>
                        <a:t>😊</a:t>
                      </a:r>
                      <a:endParaRPr sz="1000">
                        <a:solidFill>
                          <a:schemeClr val="lt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❌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😊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Bi Directional API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2"/>
                          </a:solidFill>
                        </a:rPr>
                        <a:t>😊</a:t>
                      </a:r>
                      <a:endParaRPr sz="1000">
                        <a:solidFill>
                          <a:schemeClr val="lt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❌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❌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Staffing Agency Integration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❌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😊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❌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Attachments for Event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😊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😊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❌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Offline Data Entry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😊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😊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❌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Media Upload and Tagging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😊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😊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😊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SMS Event Reminders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😊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😊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❌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Recap Notifications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😊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😊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❌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Review Recap Reports prior to submitting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😊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😊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😊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457200" y="594360"/>
            <a:ext cx="7086600" cy="6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Brandscopic</a:t>
            </a:r>
            <a:endParaRPr sz="2400"/>
          </a:p>
        </p:txBody>
      </p:sp>
      <p:sp>
        <p:nvSpPr>
          <p:cNvPr id="187" name="Google Shape;187;p22"/>
          <p:cNvSpPr txBox="1"/>
          <p:nvPr>
            <p:ph idx="1" type="body"/>
          </p:nvPr>
        </p:nvSpPr>
        <p:spPr>
          <a:xfrm>
            <a:off x="457200" y="1459575"/>
            <a:ext cx="3983700" cy="3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/>
              <a:t>Mobile App or Responsive web app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/>
              <a:t>Can custom build according to our need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/>
              <a:t>Configurable dashboard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/>
              <a:t>Notifications, in app, sms or email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/>
              <a:t>Calendar view by event, campaign or phase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/>
              <a:t>Geo locate for BA or FM check in (geolocate crumbs or IP address)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/>
              <a:t>Bi directional API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/>
              <a:t>Staffing agencies can have accounts and then assign staff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/>
              <a:t>Can partition the client portals so that Momentum would have 1 portal but multiple clients; no data overlapping</a:t>
            </a:r>
            <a:endParaRPr/>
          </a:p>
        </p:txBody>
      </p:sp>
      <p:pic>
        <p:nvPicPr>
          <p:cNvPr id="188" name="Google Shape;18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0900" y="534936"/>
            <a:ext cx="3983701" cy="2415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4750" y="2667925"/>
            <a:ext cx="3643476" cy="260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idx="1" type="body"/>
          </p:nvPr>
        </p:nvSpPr>
        <p:spPr>
          <a:xfrm flipH="1">
            <a:off x="272750" y="1188100"/>
            <a:ext cx="1844400" cy="75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84162" lvl="0" marL="45720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875"/>
              <a:buChar char="-"/>
            </a:pPr>
            <a:r>
              <a:rPr lang="en" sz="875">
                <a:solidFill>
                  <a:schemeClr val="dk1"/>
                </a:solidFill>
              </a:rPr>
              <a:t>When considering key features, API abilities, and per user cost–Brandscopic is the leading platform. </a:t>
            </a:r>
            <a:endParaRPr sz="87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87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000"/>
          </a:p>
        </p:txBody>
      </p:sp>
      <p:pic>
        <p:nvPicPr>
          <p:cNvPr id="195" name="Google Shape;19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675" y="486025"/>
            <a:ext cx="1595725" cy="6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3800" y="351575"/>
            <a:ext cx="6209398" cy="455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title"/>
          </p:nvPr>
        </p:nvSpPr>
        <p:spPr>
          <a:xfrm>
            <a:off x="1280750" y="11560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Brandscopic - how the heck do we use it?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3050" y="1978000"/>
            <a:ext cx="2919672" cy="276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018-11-07_1407.png" id="207" name="Google Shape;2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5846" y="2386853"/>
            <a:ext cx="2260951" cy="1993527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5"/>
          <p:cNvSpPr txBox="1"/>
          <p:nvPr>
            <p:ph type="title"/>
          </p:nvPr>
        </p:nvSpPr>
        <p:spPr>
          <a:xfrm>
            <a:off x="1906253" y="245747"/>
            <a:ext cx="51642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Step 1: Login to Brandscopic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5"/>
          <p:cNvSpPr txBox="1"/>
          <p:nvPr>
            <p:ph idx="1" type="body"/>
          </p:nvPr>
        </p:nvSpPr>
        <p:spPr>
          <a:xfrm>
            <a:off x="1485901" y="1063228"/>
            <a:ext cx="2550300" cy="3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100">
                <a:latin typeface="Calibri"/>
                <a:ea typeface="Calibri"/>
                <a:cs typeface="Calibri"/>
                <a:sym typeface="Calibri"/>
              </a:rPr>
              <a:t>On desktop: 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81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1. Go to beta.brandscopic.com and enter your username and password. </a:t>
            </a:r>
            <a:endParaRPr/>
          </a:p>
          <a:p>
            <a:pPr indent="-387350" lvl="0" marL="381000" rtl="0" algn="l">
              <a:spcBef>
                <a:spcPts val="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i="1" lang="en" sz="1100">
                <a:latin typeface="Calibri"/>
                <a:ea typeface="Calibri"/>
                <a:cs typeface="Calibri"/>
                <a:sym typeface="Calibri"/>
              </a:rPr>
              <a:t>Forgot password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? Click this link.</a:t>
            </a:r>
            <a:endParaRPr/>
          </a:p>
        </p:txBody>
      </p:sp>
      <p:pic>
        <p:nvPicPr>
          <p:cNvPr descr="2.png" id="210" name="Google Shape;21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4623" y="393371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5"/>
          <p:cNvSpPr txBox="1"/>
          <p:nvPr/>
        </p:nvSpPr>
        <p:spPr>
          <a:xfrm>
            <a:off x="4740088" y="998981"/>
            <a:ext cx="2835000" cy="21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your iPhone or Android device (optional): 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Users can download the Brandscopic app from the App Store or their Android device. 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 they can open a browser on their phone and go to beta.brandscopic.com.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25"/>
          <p:cNvCxnSpPr/>
          <p:nvPr/>
        </p:nvCxnSpPr>
        <p:spPr>
          <a:xfrm>
            <a:off x="4403911" y="1063229"/>
            <a:ext cx="0" cy="3684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http://support.brandscopic.com/customer/portal/attachments/464842" id="213" name="Google Shape;21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47201" y="2610674"/>
            <a:ext cx="1110699" cy="1930882"/>
          </a:xfrm>
          <a:prstGeom prst="rect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andscopic Android Mobile Bookmark" id="214" name="Google Shape;21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8911" y="2610674"/>
            <a:ext cx="1154207" cy="1930882"/>
          </a:xfrm>
          <a:prstGeom prst="rect">
            <a:avLst/>
          </a:prstGeom>
          <a:noFill/>
          <a:ln cap="flat" cmpd="sng" w="2857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1.png" id="215" name="Google Shape;21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06253" y="289949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77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5"/>
          <p:cNvSpPr txBox="1"/>
          <p:nvPr/>
        </p:nvSpPr>
        <p:spPr>
          <a:xfrm>
            <a:off x="6172200" y="48815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Step 2: Create an Event </a:t>
            </a:r>
            <a:endParaRPr/>
          </a:p>
        </p:txBody>
      </p:sp>
      <p:sp>
        <p:nvSpPr>
          <p:cNvPr id="223" name="Google Shape;223;p26"/>
          <p:cNvSpPr txBox="1"/>
          <p:nvPr>
            <p:ph idx="1" type="body"/>
          </p:nvPr>
        </p:nvSpPr>
        <p:spPr>
          <a:xfrm>
            <a:off x="338986" y="1527554"/>
            <a:ext cx="3435000" cy="3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400"/>
              <a:t>To Create an Event: </a:t>
            </a:r>
            <a:endParaRPr sz="1400"/>
          </a:p>
          <a:p>
            <a:pPr indent="-2540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" sz="1400"/>
              <a:t>1. Click on the hamburger icon </a:t>
            </a:r>
            <a:endParaRPr/>
          </a:p>
          <a:p>
            <a:pPr indent="-2540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" sz="1400"/>
              <a:t>2. </a:t>
            </a:r>
            <a:r>
              <a:rPr lang="en" sz="1400"/>
              <a:t>Click </a:t>
            </a:r>
            <a:r>
              <a:rPr b="1" lang="en" sz="1400"/>
              <a:t>Events </a:t>
            </a:r>
            <a:r>
              <a:rPr lang="en" sz="1400"/>
              <a:t>from the menu.</a:t>
            </a:r>
            <a:endParaRPr/>
          </a:p>
          <a:p>
            <a:pPr indent="-2540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" sz="1400"/>
              <a:t>3. </a:t>
            </a:r>
            <a:r>
              <a:rPr lang="en" sz="1400"/>
              <a:t>Click on </a:t>
            </a:r>
            <a:r>
              <a:rPr b="1" lang="en" sz="1400"/>
              <a:t>+ New Event </a:t>
            </a:r>
            <a:endParaRPr sz="1400"/>
          </a:p>
          <a:p>
            <a:pPr indent="-2540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" sz="1400"/>
              <a:t>4. Fill out the fields and press </a:t>
            </a:r>
            <a:r>
              <a:rPr b="1" lang="en" sz="1400"/>
              <a:t>Create Event </a:t>
            </a:r>
            <a:endParaRPr sz="14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</p:txBody>
      </p:sp>
      <p:sp>
        <p:nvSpPr>
          <p:cNvPr id="224" name="Google Shape;224;p2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77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5" name="Google Shape;225;p26"/>
          <p:cNvSpPr txBox="1"/>
          <p:nvPr/>
        </p:nvSpPr>
        <p:spPr>
          <a:xfrm>
            <a:off x="6172200" y="48815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phone&#10;&#10;Description automatically generated" id="226" name="Google Shape;2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4101" y="973443"/>
            <a:ext cx="2079096" cy="38010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phone&#10;&#10;Description automatically generated" id="227" name="Google Shape;22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2813" y="977946"/>
            <a:ext cx="1988199" cy="3792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.png" id="228" name="Google Shape;22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27026" y="123824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.png" id="229" name="Google Shape;22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79987" y="146684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.png" id="230" name="Google Shape;230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2303" y="268664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.png" id="231" name="Google Shape;231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74598" y="4538663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 txBox="1"/>
          <p:nvPr>
            <p:ph type="title"/>
          </p:nvPr>
        </p:nvSpPr>
        <p:spPr>
          <a:xfrm>
            <a:off x="41803" y="11671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Step 3: Fill Out/ Submit Recap </a:t>
            </a:r>
            <a:endParaRPr/>
          </a:p>
        </p:txBody>
      </p:sp>
      <p:sp>
        <p:nvSpPr>
          <p:cNvPr id="237" name="Google Shape;237;p27"/>
          <p:cNvSpPr txBox="1"/>
          <p:nvPr>
            <p:ph idx="1" type="body"/>
          </p:nvPr>
        </p:nvSpPr>
        <p:spPr>
          <a:xfrm>
            <a:off x="176300" y="813000"/>
            <a:ext cx="2992800" cy="3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100"/>
              <a:t>Event Details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On this page you can review basic event details such as date, time and location as well as complete your recap. 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100"/>
              <a:t>To Complete Your Form: </a:t>
            </a:r>
            <a:endParaRPr sz="1100"/>
          </a:p>
          <a:p>
            <a:pPr indent="-260350" lvl="0" marL="254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" sz="1100"/>
              <a:t>1. Click on the event </a:t>
            </a:r>
            <a:r>
              <a:rPr b="1" lang="en" sz="1100"/>
              <a:t>Create Activity </a:t>
            </a:r>
            <a:r>
              <a:rPr lang="en" sz="1100"/>
              <a:t>to open your pre-event form</a:t>
            </a:r>
            <a:endParaRPr/>
          </a:p>
          <a:p>
            <a:pPr indent="-260350" lvl="0" marL="254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" sz="1100"/>
              <a:t>2. </a:t>
            </a:r>
            <a:r>
              <a:rPr lang="en" sz="1100"/>
              <a:t>Use the </a:t>
            </a:r>
            <a:r>
              <a:rPr b="1" lang="en" sz="1100"/>
              <a:t>Next </a:t>
            </a:r>
            <a:r>
              <a:rPr lang="en" sz="1100"/>
              <a:t>button or scroll through the fields to complete your recap. Your work is automatically saved. If you need to leave and come back, click the </a:t>
            </a:r>
            <a:r>
              <a:rPr b="1" lang="en" sz="1100"/>
              <a:t>Save &amp; Exit </a:t>
            </a:r>
            <a:r>
              <a:rPr lang="en" sz="1100"/>
              <a:t>button.</a:t>
            </a:r>
            <a:endParaRPr/>
          </a:p>
          <a:p>
            <a:pPr indent="-260350" lvl="0" marL="254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" sz="1100"/>
              <a:t>3. </a:t>
            </a:r>
            <a:r>
              <a:rPr lang="en" sz="1100"/>
              <a:t>Once you’ve completed all required fields in your recap, click the </a:t>
            </a:r>
            <a:r>
              <a:rPr b="1" lang="en" sz="1100"/>
              <a:t>Complete / Submit </a:t>
            </a:r>
            <a:r>
              <a:rPr lang="en" sz="1100"/>
              <a:t>button to complete your recap</a:t>
            </a:r>
            <a:endParaRPr/>
          </a:p>
          <a:p>
            <a:pPr indent="-260350" lvl="0" marL="254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" sz="1100"/>
              <a:t>4. </a:t>
            </a:r>
            <a:r>
              <a:rPr lang="en" sz="1100"/>
              <a:t>Once all required information has been collected, the </a:t>
            </a:r>
            <a:r>
              <a:rPr b="1" lang="en" sz="1100">
                <a:solidFill>
                  <a:srgbClr val="3366FF"/>
                </a:solidFill>
              </a:rPr>
              <a:t>BLUE </a:t>
            </a:r>
            <a:r>
              <a:rPr lang="en" sz="1100"/>
              <a:t>submit button will turn bright blue and read “100%” complete. Click </a:t>
            </a:r>
            <a:r>
              <a:rPr b="1" i="1" lang="en" sz="1100"/>
              <a:t>Submit</a:t>
            </a:r>
            <a:r>
              <a:rPr lang="en" sz="1100"/>
              <a:t> to </a:t>
            </a:r>
            <a:r>
              <a:rPr b="1" lang="en" sz="1100"/>
              <a:t>submit your event for approval. </a:t>
            </a:r>
            <a:endParaRPr/>
          </a:p>
          <a:p>
            <a:pPr indent="-190500" lvl="0" marL="254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</p:txBody>
      </p:sp>
      <p:sp>
        <p:nvSpPr>
          <p:cNvPr id="238" name="Google Shape;238;p2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77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9" name="Google Shape;239;p27"/>
          <p:cNvSpPr txBox="1"/>
          <p:nvPr/>
        </p:nvSpPr>
        <p:spPr>
          <a:xfrm>
            <a:off x="6172200" y="48815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white background with black text&#10;&#10;Description automatically generated" id="240" name="Google Shape;24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1563" y="211967"/>
            <a:ext cx="1761549" cy="3256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phone&#10;&#10;Description automatically generated" id="241" name="Google Shape;24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0556" y="1063228"/>
            <a:ext cx="1710923" cy="32566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phone&#10;&#10;Description automatically generated" id="242" name="Google Shape;24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4547" y="2203827"/>
            <a:ext cx="1600200" cy="28899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.png" id="243" name="Google Shape;243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40489" y="376978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.png" id="244" name="Google Shape;244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45996" y="490418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.png" id="245" name="Google Shape;245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33300" y="290914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phone&#10;&#10;Description automatically generated" id="246" name="Google Shape;246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19896" y="2158543"/>
            <a:ext cx="1600200" cy="29805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.png" id="247" name="Google Shape;247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19961" y="4060767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 Tracking</a:t>
            </a:r>
            <a:endParaRPr/>
          </a:p>
        </p:txBody>
      </p:sp>
      <p:sp>
        <p:nvSpPr>
          <p:cNvPr id="253" name="Google Shape;253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Add bugs / feedback / questions here during soft launch of Brandscopic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Over the next few weeks of entering events and recapping events, we will use this sheet to track any issues and questions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Kristen or Lauren should be contacted for any questions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 txBox="1"/>
          <p:nvPr>
            <p:ph type="title"/>
          </p:nvPr>
        </p:nvSpPr>
        <p:spPr>
          <a:xfrm>
            <a:off x="1297500" y="393750"/>
            <a:ext cx="70389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Steps/Timing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9"/>
          <p:cNvSpPr/>
          <p:nvPr/>
        </p:nvSpPr>
        <p:spPr>
          <a:xfrm>
            <a:off x="2382763" y="1686863"/>
            <a:ext cx="594300" cy="36900"/>
          </a:xfrm>
          <a:prstGeom prst="roundRect">
            <a:avLst>
              <a:gd fmla="val 50000" name="adj"/>
            </a:avLst>
          </a:prstGeom>
          <a:solidFill>
            <a:srgbClr val="0C58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7BF3"/>
              </a:solidFill>
            </a:endParaRPr>
          </a:p>
        </p:txBody>
      </p:sp>
      <p:grpSp>
        <p:nvGrpSpPr>
          <p:cNvPr id="260" name="Google Shape;260;p29"/>
          <p:cNvGrpSpPr/>
          <p:nvPr/>
        </p:nvGrpSpPr>
        <p:grpSpPr>
          <a:xfrm>
            <a:off x="566147" y="1395900"/>
            <a:ext cx="2187600" cy="2727875"/>
            <a:chOff x="348347" y="1957150"/>
            <a:chExt cx="2187600" cy="2727875"/>
          </a:xfrm>
        </p:grpSpPr>
        <p:sp>
          <p:nvSpPr>
            <p:cNvPr id="261" name="Google Shape;261;p29"/>
            <p:cNvSpPr/>
            <p:nvPr/>
          </p:nvSpPr>
          <p:spPr>
            <a:xfrm>
              <a:off x="1151886" y="195715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rgbClr val="0C58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62" name="Google Shape;262;p29"/>
            <p:cNvSpPr txBox="1"/>
            <p:nvPr/>
          </p:nvSpPr>
          <p:spPr>
            <a:xfrm>
              <a:off x="1151875" y="2118325"/>
              <a:ext cx="5943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2023</a:t>
              </a:r>
              <a:endPara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3" name="Google Shape;263;p29"/>
            <p:cNvSpPr txBox="1"/>
            <p:nvPr/>
          </p:nvSpPr>
          <p:spPr>
            <a:xfrm>
              <a:off x="594488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October</a:t>
              </a:r>
              <a:endParaRPr b="1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4" name="Google Shape;264;p29"/>
            <p:cNvSpPr txBox="1"/>
            <p:nvPr/>
          </p:nvSpPr>
          <p:spPr>
            <a:xfrm>
              <a:off x="348347" y="3107325"/>
              <a:ext cx="2187600" cy="157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- </a:t>
              </a:r>
              <a:r>
                <a:rPr lang="en" sz="1000">
                  <a:solidFill>
                    <a:schemeClr val="lt1"/>
                  </a:solidFill>
                </a:rPr>
                <a:t>SSO implementation &amp; testing</a:t>
              </a:r>
              <a:endParaRPr sz="10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- SSO feedback addressed</a:t>
              </a:r>
              <a:endParaRPr sz="10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- Sr. BL team + analytics check-in</a:t>
              </a:r>
              <a:endParaRPr sz="1000">
                <a:solidFill>
                  <a:schemeClr val="lt1"/>
                </a:solidFill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Select a small group of “superusers” to use Brandscopic</a:t>
              </a:r>
              <a:endParaRPr sz="1000">
                <a:solidFill>
                  <a:schemeClr val="lt1"/>
                </a:solidFill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u="sng">
                  <a:solidFill>
                    <a:schemeClr val="lt1"/>
                  </a:solidFill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Review this doc</a:t>
              </a:r>
              <a:r>
                <a:rPr lang="en" sz="1000">
                  <a:solidFill>
                    <a:schemeClr val="lt1"/>
                  </a:solidFill>
                </a:rPr>
                <a:t> and cover notes in </a:t>
              </a:r>
              <a:r>
                <a:rPr lang="en" sz="1000">
                  <a:solidFill>
                    <a:schemeClr val="lt1"/>
                  </a:solidFill>
                  <a:highlight>
                    <a:srgbClr val="FF0000"/>
                  </a:highlight>
                </a:rPr>
                <a:t>red</a:t>
              </a:r>
              <a:endParaRPr sz="900">
                <a:solidFill>
                  <a:schemeClr val="lt1"/>
                </a:solidFill>
              </a:endParaRPr>
            </a:p>
          </p:txBody>
        </p:sp>
      </p:grpSp>
      <p:grpSp>
        <p:nvGrpSpPr>
          <p:cNvPr id="265" name="Google Shape;265;p29"/>
          <p:cNvGrpSpPr/>
          <p:nvPr/>
        </p:nvGrpSpPr>
        <p:grpSpPr>
          <a:xfrm>
            <a:off x="2917225" y="1395900"/>
            <a:ext cx="1755000" cy="3202975"/>
            <a:chOff x="2699425" y="1957150"/>
            <a:chExt cx="1755000" cy="3202975"/>
          </a:xfrm>
        </p:grpSpPr>
        <p:sp>
          <p:nvSpPr>
            <p:cNvPr id="266" name="Google Shape;266;p29"/>
            <p:cNvSpPr/>
            <p:nvPr/>
          </p:nvSpPr>
          <p:spPr>
            <a:xfrm>
              <a:off x="3256823" y="195715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rgbClr val="0C58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67" name="Google Shape;267;p29"/>
            <p:cNvSpPr txBox="1"/>
            <p:nvPr/>
          </p:nvSpPr>
          <p:spPr>
            <a:xfrm>
              <a:off x="2699425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November</a:t>
              </a:r>
              <a:endParaRPr b="1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8" name="Google Shape;268;p29"/>
            <p:cNvSpPr txBox="1"/>
            <p:nvPr/>
          </p:nvSpPr>
          <p:spPr>
            <a:xfrm>
              <a:off x="2699425" y="3117725"/>
              <a:ext cx="1755000" cy="204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- SSO in place </a:t>
              </a:r>
              <a:endParaRPr sz="10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- Brandscopic soft kickoff with BL superusers</a:t>
              </a:r>
              <a:endParaRPr sz="10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- Track any questions / feedback / issues in:  </a:t>
              </a:r>
              <a:r>
                <a:rPr lang="en" sz="1000" u="sng">
                  <a:solidFill>
                    <a:schemeClr val="lt1"/>
                  </a:solidFill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this tracker</a:t>
              </a:r>
              <a:r>
                <a:rPr lang="en" sz="1000">
                  <a:solidFill>
                    <a:schemeClr val="lt1"/>
                  </a:solidFill>
                </a:rPr>
                <a:t> </a:t>
              </a:r>
              <a:endParaRPr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9" name="Google Shape;269;p29"/>
            <p:cNvSpPr txBox="1"/>
            <p:nvPr/>
          </p:nvSpPr>
          <p:spPr>
            <a:xfrm>
              <a:off x="3251076" y="2106075"/>
              <a:ext cx="5943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2023</a:t>
              </a:r>
              <a:endPara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0" name="Google Shape;270;p29"/>
          <p:cNvSpPr/>
          <p:nvPr/>
        </p:nvSpPr>
        <p:spPr>
          <a:xfrm>
            <a:off x="6383238" y="1686863"/>
            <a:ext cx="594300" cy="36900"/>
          </a:xfrm>
          <a:prstGeom prst="roundRect">
            <a:avLst>
              <a:gd fmla="val 50000" name="adj"/>
            </a:avLst>
          </a:prstGeom>
          <a:solidFill>
            <a:srgbClr val="0C58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7BF3"/>
              </a:solidFill>
            </a:endParaRPr>
          </a:p>
        </p:txBody>
      </p:sp>
      <p:grpSp>
        <p:nvGrpSpPr>
          <p:cNvPr id="271" name="Google Shape;271;p29"/>
          <p:cNvGrpSpPr/>
          <p:nvPr/>
        </p:nvGrpSpPr>
        <p:grpSpPr>
          <a:xfrm>
            <a:off x="4789800" y="1395900"/>
            <a:ext cx="1886700" cy="3412675"/>
            <a:chOff x="571525" y="1957150"/>
            <a:chExt cx="1886700" cy="3412675"/>
          </a:xfrm>
        </p:grpSpPr>
        <p:sp>
          <p:nvSpPr>
            <p:cNvPr id="272" name="Google Shape;272;p29"/>
            <p:cNvSpPr/>
            <p:nvPr/>
          </p:nvSpPr>
          <p:spPr>
            <a:xfrm>
              <a:off x="1151886" y="195715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rgbClr val="0C58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73" name="Google Shape;273;p29"/>
            <p:cNvSpPr txBox="1"/>
            <p:nvPr/>
          </p:nvSpPr>
          <p:spPr>
            <a:xfrm>
              <a:off x="1151875" y="2118325"/>
              <a:ext cx="5943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2023</a:t>
              </a:r>
              <a:endPara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4" name="Google Shape;274;p29"/>
            <p:cNvSpPr txBox="1"/>
            <p:nvPr/>
          </p:nvSpPr>
          <p:spPr>
            <a:xfrm>
              <a:off x="594488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December</a:t>
              </a:r>
              <a:endParaRPr b="1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5" name="Google Shape;275;p29"/>
            <p:cNvSpPr txBox="1"/>
            <p:nvPr/>
          </p:nvSpPr>
          <p:spPr>
            <a:xfrm>
              <a:off x="571525" y="3117725"/>
              <a:ext cx="1886700" cy="22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- Superusers continue using Brandscopic and track any feedback </a:t>
              </a:r>
              <a:endParaRPr sz="10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- Smartsheet will also be in place</a:t>
              </a:r>
              <a:endParaRPr sz="10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- After 30-45 days of using Brandscopic, check-in among superusers and IP / OPs / Analytics to experience, improvements, etc</a:t>
              </a:r>
              <a:endParaRPr sz="10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-API to UET completed</a:t>
              </a:r>
              <a:endParaRPr sz="1000">
                <a:solidFill>
                  <a:schemeClr val="lt1"/>
                </a:solidFill>
              </a:endParaRPr>
            </a:p>
          </p:txBody>
        </p:sp>
      </p:grpSp>
      <p:grpSp>
        <p:nvGrpSpPr>
          <p:cNvPr id="276" name="Google Shape;276;p29"/>
          <p:cNvGrpSpPr/>
          <p:nvPr/>
        </p:nvGrpSpPr>
        <p:grpSpPr>
          <a:xfrm>
            <a:off x="6917700" y="1395900"/>
            <a:ext cx="1709100" cy="2867872"/>
            <a:chOff x="2699425" y="1957150"/>
            <a:chExt cx="1709100" cy="2867872"/>
          </a:xfrm>
        </p:grpSpPr>
        <p:sp>
          <p:nvSpPr>
            <p:cNvPr id="277" name="Google Shape;277;p29"/>
            <p:cNvSpPr/>
            <p:nvPr/>
          </p:nvSpPr>
          <p:spPr>
            <a:xfrm>
              <a:off x="3256823" y="195715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rgbClr val="0C58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78" name="Google Shape;278;p29"/>
            <p:cNvSpPr txBox="1"/>
            <p:nvPr/>
          </p:nvSpPr>
          <p:spPr>
            <a:xfrm>
              <a:off x="2699425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January</a:t>
              </a:r>
              <a:endParaRPr b="1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9" name="Google Shape;279;p29"/>
            <p:cNvSpPr txBox="1"/>
            <p:nvPr/>
          </p:nvSpPr>
          <p:spPr>
            <a:xfrm>
              <a:off x="2699425" y="3117722"/>
              <a:ext cx="1709100" cy="17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- </a:t>
              </a:r>
              <a:r>
                <a:rPr lang="en" sz="1000">
                  <a:solidFill>
                    <a:schemeClr val="lt1"/>
                  </a:solidFill>
                </a:rPr>
                <a:t>Complete team roll out</a:t>
              </a:r>
              <a:endParaRPr sz="10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Continue to approve and review BA experience </a:t>
              </a:r>
              <a:endParaRPr sz="10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- </a:t>
              </a:r>
              <a:r>
                <a:rPr lang="en" sz="1000">
                  <a:solidFill>
                    <a:schemeClr val="lt1"/>
                  </a:solidFill>
                </a:rPr>
                <a:t>Discuss phasing out smartsheet timeline</a:t>
              </a:r>
              <a:endParaRPr sz="10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-API to MOMO BI completed</a:t>
              </a:r>
              <a:endParaRPr sz="10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0" name="Google Shape;280;p29"/>
            <p:cNvSpPr txBox="1"/>
            <p:nvPr/>
          </p:nvSpPr>
          <p:spPr>
            <a:xfrm>
              <a:off x="3251076" y="2106075"/>
              <a:ext cx="5943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2024</a:t>
              </a:r>
              <a:endPara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81" name="Google Shape;281;p29"/>
          <p:cNvSpPr/>
          <p:nvPr/>
        </p:nvSpPr>
        <p:spPr>
          <a:xfrm>
            <a:off x="4433850" y="1723763"/>
            <a:ext cx="594300" cy="36900"/>
          </a:xfrm>
          <a:prstGeom prst="roundRect">
            <a:avLst>
              <a:gd fmla="val 50000" name="adj"/>
            </a:avLst>
          </a:prstGeom>
          <a:solidFill>
            <a:srgbClr val="0C58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7BF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Additional Training Materials</a:t>
            </a:r>
            <a:endParaRPr/>
          </a:p>
        </p:txBody>
      </p:sp>
      <p:sp>
        <p:nvSpPr>
          <p:cNvPr id="287" name="Google Shape;287;p30"/>
          <p:cNvSpPr txBox="1"/>
          <p:nvPr>
            <p:ph idx="1" type="body"/>
          </p:nvPr>
        </p:nvSpPr>
        <p:spPr>
          <a:xfrm>
            <a:off x="568712" y="1122830"/>
            <a:ext cx="79119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Support Website: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https://brandscopic.zendesk.com/hc/en-us</a:t>
            </a:r>
            <a:endParaRPr sz="11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100"/>
          </a:p>
          <a:p>
            <a:pPr indent="-209550" lvl="1" marL="55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 sz="1100"/>
              <a:t>How to Submit an Activity</a:t>
            </a:r>
            <a:r>
              <a:rPr lang="en" sz="1100"/>
              <a:t>: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https://brandscopic.zendesk.com/hc/en-us/articles/115002821508</a:t>
            </a:r>
            <a:endParaRPr sz="1100"/>
          </a:p>
          <a:p>
            <a:pPr indent="-209550" lvl="1" marL="55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 sz="1100"/>
              <a:t>Submitting an Event Phase</a:t>
            </a:r>
            <a:r>
              <a:rPr lang="en" sz="1100"/>
              <a:t>: 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https://brandscopic.zendesk.com/hc/en-us/articles/115002834928</a:t>
            </a:r>
            <a:endParaRPr sz="11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 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Support Youtube Channel: 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https://www.youtube.com/channel/UChcfVIGq0zKf1E49HdW1ZsA</a:t>
            </a:r>
            <a:r>
              <a:rPr lang="en" sz="1100"/>
              <a:t> 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 </a:t>
            </a:r>
            <a:endParaRPr sz="11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12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88" name="Google Shape;288;p3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77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9" name="Google Shape;289;p30"/>
          <p:cNvSpPr txBox="1"/>
          <p:nvPr/>
        </p:nvSpPr>
        <p:spPr>
          <a:xfrm>
            <a:off x="6172200" y="48815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01503E242B4242B818938EF38676E9" ma:contentTypeVersion="21" ma:contentTypeDescription="Create a new document." ma:contentTypeScope="" ma:versionID="3a4297306f45b7232432285f2e4fc0a3">
  <xsd:schema xmlns:xsd="http://www.w3.org/2001/XMLSchema" xmlns:xs="http://www.w3.org/2001/XMLSchema" xmlns:p="http://schemas.microsoft.com/office/2006/metadata/properties" xmlns:ns2="801b4607-f500-4f6e-b784-fb54d22359e9" xmlns:ns3="05212364-6e0c-40a5-9fff-da248140089a" targetNamespace="http://schemas.microsoft.com/office/2006/metadata/properties" ma:root="true" ma:fieldsID="85f62882915f962eb2adfc659e2f43e6" ns2:_="" ns3:_="">
    <xsd:import namespace="801b4607-f500-4f6e-b784-fb54d22359e9"/>
    <xsd:import namespace="05212364-6e0c-40a5-9fff-da24814008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Notes" minOccurs="0"/>
                <xsd:element ref="ns2:MediaServiceSearchProperties" minOccurs="0"/>
                <xsd:element ref="ns2:AzureFiles" minOccurs="0"/>
                <xsd:element ref="ns2:MediaServiceBillingMetadata" minOccurs="0"/>
                <xsd:element ref="ns2:Tag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1b4607-f500-4f6e-b784-fb54d22359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a7d435f-bc0a-452e-b7b2-4cb57826a0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Notes" ma:index="24" nillable="true" ma:displayName="Notes" ma:format="Dropdown" ma:internalName="Notes">
      <xsd:simpleType>
        <xsd:restriction base="dms:Note">
          <xsd:maxLength value="255"/>
        </xsd:restriction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zureFiles" ma:index="26" nillable="true" ma:displayName="Azure Files" ma:format="Hyperlink" ma:internalName="AzureFile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Tag" ma:index="28" nillable="true" ma:displayName="Tag" ma:description="Tag to flag the recipient user against" ma:format="Dropdown" ma:internalName="Tag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212364-6e0c-40a5-9fff-da248140089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3010033-8c98-4658-a188-4535091bf398}" ma:internalName="TaxCatchAll" ma:showField="CatchAllData" ma:web="05212364-6e0c-40a5-9fff-da24814008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5212364-6e0c-40a5-9fff-da248140089a" xsi:nil="true"/>
    <Notes xmlns="801b4607-f500-4f6e-b784-fb54d22359e9" xsi:nil="true"/>
    <lcf76f155ced4ddcb4097134ff3c332f xmlns="801b4607-f500-4f6e-b784-fb54d22359e9">
      <Terms xmlns="http://schemas.microsoft.com/office/infopath/2007/PartnerControls"/>
    </lcf76f155ced4ddcb4097134ff3c332f>
    <SharedWithUsers xmlns="05212364-6e0c-40a5-9fff-da248140089a">
      <UserInfo>
        <DisplayName>Alden, Erik (NYC-MOM)</DisplayName>
        <AccountId>648</AccountId>
        <AccountType/>
      </UserInfo>
    </SharedWithUsers>
    <AzureFiles xmlns="801b4607-f500-4f6e-b784-fb54d22359e9">
      <Url xsi:nil="true"/>
      <Description xsi:nil="true"/>
    </AzureFiles>
    <Tag xmlns="801b4607-f500-4f6e-b784-fb54d22359e9" xsi:nil="true"/>
  </documentManagement>
</p:properties>
</file>

<file path=customXml/itemProps1.xml><?xml version="1.0" encoding="utf-8"?>
<ds:datastoreItem xmlns:ds="http://schemas.openxmlformats.org/officeDocument/2006/customXml" ds:itemID="{E448019C-4B5C-4627-B9C6-6593BFBB79D3}"/>
</file>

<file path=customXml/itemProps2.xml><?xml version="1.0" encoding="utf-8"?>
<ds:datastoreItem xmlns:ds="http://schemas.openxmlformats.org/officeDocument/2006/customXml" ds:itemID="{6F2A082C-74B7-4ADB-914D-0411F522AC30}"/>
</file>

<file path=customXml/itemProps3.xml><?xml version="1.0" encoding="utf-8"?>
<ds:datastoreItem xmlns:ds="http://schemas.openxmlformats.org/officeDocument/2006/customXml" ds:itemID="{FEFF16DC-4A91-46AA-8F38-8DC675D0E915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0x0101004C01503E242B4242B818938EF38676E9</vt:lpwstr>
  </property>
  <property fmtid="{D5CDD505-2E9C-101B-9397-08002B2CF9AE}" pid="3" name="MediaServiceImageTags">
    <vt:lpwstr/>
  </property>
</Properties>
</file>